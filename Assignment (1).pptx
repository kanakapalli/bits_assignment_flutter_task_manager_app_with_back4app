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738" y="414338"/>
            <a:ext cx="6016942" cy="7715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66738" y="1284906"/>
            <a:ext cx="5023107" cy="77152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66738" y="3472885"/>
            <a:ext cx="5023107" cy="7715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66738" y="2047617"/>
            <a:ext cx="7777548" cy="142567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66738" y="4243301"/>
            <a:ext cx="7777548" cy="1034587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566738" y="4243301"/>
            <a:ext cx="7631169" cy="2524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66738" y="4634388"/>
            <a:ext cx="7777548" cy="252413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66738" y="5025475"/>
            <a:ext cx="7739027" cy="25241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02075" y="5025475"/>
            <a:ext cx="7403689" cy="25241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02075" y="5025475"/>
            <a:ext cx="7403689" cy="2524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902075" y="4634388"/>
            <a:ext cx="7442210" cy="252413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02075" y="4634388"/>
            <a:ext cx="7442210" cy="25241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902075" y="4243301"/>
            <a:ext cx="7295831" cy="25241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02075" y="4243301"/>
            <a:ext cx="7295831" cy="25241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66738" y="2047617"/>
            <a:ext cx="7631169" cy="25241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66738" y="2438705"/>
            <a:ext cx="7777548" cy="252413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566738" y="2829792"/>
            <a:ext cx="7739027" cy="252413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566738" y="3220879"/>
            <a:ext cx="7315298" cy="252413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902075" y="3220879"/>
            <a:ext cx="6979961" cy="252413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02075" y="3220879"/>
            <a:ext cx="6979961" cy="252413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02075" y="2829792"/>
            <a:ext cx="7403689" cy="252413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02075" y="2829792"/>
            <a:ext cx="7403689" cy="252413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02075" y="2438705"/>
            <a:ext cx="7442210" cy="252413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02075" y="2438705"/>
            <a:ext cx="7442210" cy="252413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02075" y="2047617"/>
            <a:ext cx="7295831" cy="252413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902075" y="2047617"/>
            <a:ext cx="7295831" cy="252413"/>
          </a:xfrm>
          <a:prstGeom prst="rect">
            <a:avLst/>
          </a:prstGeom>
          <a:noFill/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38" y="5034090"/>
            <a:ext cx="230560" cy="107099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8" y="4643002"/>
            <a:ext cx="230560" cy="230560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8" y="4251915"/>
            <a:ext cx="230560" cy="230560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8" y="3229493"/>
            <a:ext cx="230560" cy="230560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8" y="2838406"/>
            <a:ext cx="230560" cy="23056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38" y="2447319"/>
            <a:ext cx="230560" cy="230560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8" y="2056232"/>
            <a:ext cx="230560" cy="2305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2075" y="5025475"/>
            <a:ext cx="7860889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Design: Neumorphic/Skeuomorphic UI patterns</a:t>
            </a:r>
            <a:endParaRPr lang="en-US" sz="1456" dirty="0"/>
          </a:p>
        </p:txBody>
      </p:sp>
      <p:sp>
        <p:nvSpPr>
          <p:cNvPr id="36" name="Text 27"/>
          <p:cNvSpPr/>
          <p:nvPr/>
        </p:nvSpPr>
        <p:spPr>
          <a:xfrm>
            <a:off x="902075" y="4634388"/>
            <a:ext cx="7899410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Backend: Back4App (BaaS), Parse Server SDK</a:t>
            </a:r>
            <a:endParaRPr lang="en-US" sz="1456" dirty="0"/>
          </a:p>
        </p:txBody>
      </p:sp>
      <p:sp>
        <p:nvSpPr>
          <p:cNvPr id="37" name="Text 28"/>
          <p:cNvSpPr/>
          <p:nvPr/>
        </p:nvSpPr>
        <p:spPr>
          <a:xfrm>
            <a:off x="902075" y="4243301"/>
            <a:ext cx="7753031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Frontend: Flutter 3.9.2, flutter_neumorphic_plus, Google Fonts</a:t>
            </a:r>
            <a:endParaRPr lang="en-US" sz="1456" dirty="0"/>
          </a:p>
        </p:txBody>
      </p:sp>
      <p:sp>
        <p:nvSpPr>
          <p:cNvPr id="38" name="Text 29"/>
          <p:cNvSpPr/>
          <p:nvPr/>
        </p:nvSpPr>
        <p:spPr>
          <a:xfrm>
            <a:off x="902075" y="3220879"/>
            <a:ext cx="7437161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Neumorphic UI Design (3D depth effects)</a:t>
            </a:r>
            <a:endParaRPr lang="en-US" sz="1456" dirty="0"/>
          </a:p>
        </p:txBody>
      </p:sp>
      <p:sp>
        <p:nvSpPr>
          <p:cNvPr id="39" name="Text 30"/>
          <p:cNvSpPr/>
          <p:nvPr/>
        </p:nvSpPr>
        <p:spPr>
          <a:xfrm>
            <a:off x="902075" y="2829792"/>
            <a:ext cx="7860889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Cloud Backend Integration (Back4App Parse Server)</a:t>
            </a:r>
            <a:endParaRPr lang="en-US" sz="1456" dirty="0"/>
          </a:p>
        </p:txBody>
      </p:sp>
      <p:sp>
        <p:nvSpPr>
          <p:cNvPr id="40" name="Text 31"/>
          <p:cNvSpPr/>
          <p:nvPr/>
        </p:nvSpPr>
        <p:spPr>
          <a:xfrm>
            <a:off x="902075" y="2438705"/>
            <a:ext cx="7899410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Complete CRUD Operations (Create, Read, Update, Delete tasks)</a:t>
            </a:r>
            <a:endParaRPr lang="en-US" sz="1456" dirty="0"/>
          </a:p>
        </p:txBody>
      </p:sp>
      <p:sp>
        <p:nvSpPr>
          <p:cNvPr id="41" name="Text 32"/>
          <p:cNvSpPr/>
          <p:nvPr/>
        </p:nvSpPr>
        <p:spPr>
          <a:xfrm>
            <a:off x="902075" y="2047617"/>
            <a:ext cx="7753031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74"/>
              </a:lnSpc>
              <a:buNone/>
            </a:pPr>
            <a:r>
              <a:rPr lang="en-US" sz="1456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User Authentication (Register/Login with session management)</a:t>
            </a:r>
            <a:endParaRPr lang="en-US" sz="1456" dirty="0"/>
          </a:p>
        </p:txBody>
      </p:sp>
      <p:sp>
        <p:nvSpPr>
          <p:cNvPr id="42" name="Text 33"/>
          <p:cNvSpPr/>
          <p:nvPr/>
        </p:nvSpPr>
        <p:spPr>
          <a:xfrm>
            <a:off x="566738" y="3472885"/>
            <a:ext cx="5480307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066"/>
              </a:lnSpc>
              <a:buNone/>
            </a:pPr>
            <a:r>
              <a:rPr lang="en-US" sz="3276" b="1" spc="-19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Stack</a:t>
            </a:r>
            <a:endParaRPr lang="en-US" sz="3276" dirty="0"/>
          </a:p>
        </p:txBody>
      </p:sp>
      <p:sp>
        <p:nvSpPr>
          <p:cNvPr id="43" name="Text 34"/>
          <p:cNvSpPr/>
          <p:nvPr/>
        </p:nvSpPr>
        <p:spPr>
          <a:xfrm>
            <a:off x="566738" y="1284906"/>
            <a:ext cx="5480307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066"/>
              </a:lnSpc>
              <a:buNone/>
            </a:pPr>
            <a:r>
              <a:rPr lang="en-US" sz="3276" b="1" spc="-19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 Manager App</a:t>
            </a:r>
            <a:endParaRPr lang="en-US" sz="3276" dirty="0"/>
          </a:p>
        </p:txBody>
      </p:sp>
      <p:sp>
        <p:nvSpPr>
          <p:cNvPr id="44" name="Text 35"/>
          <p:cNvSpPr/>
          <p:nvPr/>
        </p:nvSpPr>
        <p:spPr>
          <a:xfrm>
            <a:off x="566738" y="414338"/>
            <a:ext cx="6474142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066"/>
              </a:lnSpc>
              <a:buNone/>
            </a:pPr>
            <a:r>
              <a:rPr lang="en-US" sz="4853" b="1" spc="-291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Overview</a:t>
            </a:r>
            <a:endParaRPr lang="en-US" sz="485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138" y="314325"/>
            <a:ext cx="8002823" cy="7572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38138" y="1172577"/>
            <a:ext cx="3606164" cy="7572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38138" y="3559120"/>
            <a:ext cx="3606164" cy="757238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614340" y="1172577"/>
            <a:ext cx="3184566" cy="75723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38138" y="1923665"/>
            <a:ext cx="7129513" cy="145732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614340" y="1923665"/>
            <a:ext cx="7129513" cy="218598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38138" y="4231880"/>
            <a:ext cx="7600248" cy="909347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38138" y="4231880"/>
            <a:ext cx="7457206" cy="242888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38138" y="4565110"/>
            <a:ext cx="7600248" cy="24288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38138" y="4898339"/>
            <a:ext cx="7562606" cy="24288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65831" y="4898339"/>
            <a:ext cx="7234913" cy="242888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665831" y="4898339"/>
            <a:ext cx="7234913" cy="242888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65831" y="4565110"/>
            <a:ext cx="7272555" cy="242888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65831" y="4565110"/>
            <a:ext cx="7272555" cy="242888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665831" y="4231880"/>
            <a:ext cx="7129513" cy="242888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65831" y="4231880"/>
            <a:ext cx="7129513" cy="242888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614340" y="1923665"/>
            <a:ext cx="7129513" cy="2185988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614340" y="1923665"/>
            <a:ext cx="7129513" cy="2185988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614340" y="1923665"/>
            <a:ext cx="7129513" cy="2185988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38138" y="1923665"/>
            <a:ext cx="7129513" cy="145732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38138" y="1923665"/>
            <a:ext cx="7129513" cy="1457325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338138" y="1923665"/>
            <a:ext cx="7129513" cy="1457325"/>
          </a:xfrm>
          <a:prstGeom prst="rect">
            <a:avLst/>
          </a:prstGeom>
          <a:noFill/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8" y="4904872"/>
            <a:ext cx="225304" cy="225305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8" y="4571642"/>
            <a:ext cx="225304" cy="225305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8" y="4238413"/>
            <a:ext cx="225304" cy="22530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5831" y="4898339"/>
            <a:ext cx="7692113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Session validation and error handling</a:t>
            </a:r>
            <a:endParaRPr lang="en-US" sz="1423" dirty="0"/>
          </a:p>
        </p:txBody>
      </p:sp>
      <p:sp>
        <p:nvSpPr>
          <p:cNvPr id="28" name="Text 23"/>
          <p:cNvSpPr/>
          <p:nvPr/>
        </p:nvSpPr>
        <p:spPr>
          <a:xfrm>
            <a:off x="665831" y="4565110"/>
            <a:ext cx="7729755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ACL permissions for user-specific data access</a:t>
            </a:r>
            <a:endParaRPr lang="en-US" sz="1423" dirty="0"/>
          </a:p>
        </p:txBody>
      </p:sp>
      <p:sp>
        <p:nvSpPr>
          <p:cNvPr id="29" name="Text 24"/>
          <p:cNvSpPr/>
          <p:nvPr/>
        </p:nvSpPr>
        <p:spPr>
          <a:xfrm>
            <a:off x="665831" y="4231880"/>
            <a:ext cx="7586713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ParseObject subclass registration for Task model</a:t>
            </a:r>
            <a:endParaRPr lang="en-US" sz="1423" dirty="0"/>
          </a:p>
        </p:txBody>
      </p:sp>
      <p:sp>
        <p:nvSpPr>
          <p:cNvPr id="30" name="Text 25"/>
          <p:cNvSpPr/>
          <p:nvPr/>
        </p:nvSpPr>
        <p:spPr>
          <a:xfrm>
            <a:off x="4614340" y="1923665"/>
            <a:ext cx="7586713" cy="218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lib/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├── main.dart                    # App initialization, Parse setup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├── models/task.dart             # Task ParseObject model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└── screens/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  ├── login_screen.dart        # Email/password authentication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  ├── register_screen.dart     # User registration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  ├── task_list_screen.dart    # Read, Delete operations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  └── add_edit_task_screen.dart # Create, Update operations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```</a:t>
            </a:r>
            <a:endParaRPr lang="en-US" sz="1423" dirty="0"/>
          </a:p>
        </p:txBody>
      </p:sp>
      <p:sp>
        <p:nvSpPr>
          <p:cNvPr id="31" name="Text 26"/>
          <p:cNvSpPr/>
          <p:nvPr/>
        </p:nvSpPr>
        <p:spPr>
          <a:xfrm>
            <a:off x="338138" y="1923665"/>
            <a:ext cx="7586713" cy="145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Flutter App (Neumorphic UI)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       ↓ Parse SDK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Back4App Cloud (Parse Server)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Authentication Service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Task Database</a:t>
            </a:r>
            <a:endParaRPr lang="en-US" sz="1423" dirty="0"/>
          </a:p>
          <a:p>
            <a:pPr algn="l" indent="0" marL="0">
              <a:lnSpc>
                <a:spcPts val="1929"/>
              </a:lnSpc>
              <a:buNone/>
            </a:pPr>
            <a:r>
              <a:rPr lang="en-US" sz="1423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ACL Security</a:t>
            </a:r>
            <a:endParaRPr lang="en-US" sz="1423" dirty="0"/>
          </a:p>
        </p:txBody>
      </p:sp>
      <p:sp>
        <p:nvSpPr>
          <p:cNvPr id="32" name="Text 27"/>
          <p:cNvSpPr/>
          <p:nvPr/>
        </p:nvSpPr>
        <p:spPr>
          <a:xfrm>
            <a:off x="4614340" y="1172577"/>
            <a:ext cx="3641766" cy="75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928"/>
              </a:lnSpc>
              <a:buNone/>
            </a:pPr>
            <a:r>
              <a:rPr lang="en-US" sz="3201" b="1" spc="-192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Structure</a:t>
            </a:r>
            <a:endParaRPr lang="en-US" sz="3201" dirty="0"/>
          </a:p>
        </p:txBody>
      </p:sp>
      <p:sp>
        <p:nvSpPr>
          <p:cNvPr id="33" name="Text 28"/>
          <p:cNvSpPr/>
          <p:nvPr/>
        </p:nvSpPr>
        <p:spPr>
          <a:xfrm>
            <a:off x="338138" y="3559120"/>
            <a:ext cx="4063364" cy="75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928"/>
              </a:lnSpc>
              <a:buNone/>
            </a:pPr>
            <a:r>
              <a:rPr lang="en-US" sz="3201" b="1" spc="-192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Implementation</a:t>
            </a:r>
            <a:endParaRPr lang="en-US" sz="3201" dirty="0"/>
          </a:p>
        </p:txBody>
      </p:sp>
      <p:sp>
        <p:nvSpPr>
          <p:cNvPr id="34" name="Text 29"/>
          <p:cNvSpPr/>
          <p:nvPr/>
        </p:nvSpPr>
        <p:spPr>
          <a:xfrm>
            <a:off x="338138" y="1172577"/>
            <a:ext cx="4063364" cy="75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928"/>
              </a:lnSpc>
              <a:buNone/>
            </a:pPr>
            <a:r>
              <a:rPr lang="en-US" sz="3201" b="1" spc="-192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201" dirty="0"/>
          </a:p>
        </p:txBody>
      </p:sp>
      <p:sp>
        <p:nvSpPr>
          <p:cNvPr id="35" name="Text 30"/>
          <p:cNvSpPr/>
          <p:nvPr/>
        </p:nvSpPr>
        <p:spPr>
          <a:xfrm>
            <a:off x="338138" y="314325"/>
            <a:ext cx="8460023" cy="75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928"/>
              </a:lnSpc>
              <a:buNone/>
            </a:pPr>
            <a:r>
              <a:rPr lang="en-US" sz="4742" b="1" spc="-285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&amp; Implementation</a:t>
            </a:r>
            <a:endParaRPr lang="en-US" sz="47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875" y="276225"/>
            <a:ext cx="6846309" cy="6477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23875" y="958924"/>
            <a:ext cx="5751415" cy="6477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23875" y="3438537"/>
            <a:ext cx="3085026" cy="6477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23875" y="1551455"/>
            <a:ext cx="7612735" cy="1676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23875" y="4031068"/>
            <a:ext cx="7612735" cy="8382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523875" y="4031068"/>
            <a:ext cx="7612735" cy="8382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23875" y="4031068"/>
            <a:ext cx="7612735" cy="8382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23875" y="4031068"/>
            <a:ext cx="7612735" cy="8382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3875" y="1551455"/>
            <a:ext cx="7612735" cy="16764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523875" y="1551455"/>
            <a:ext cx="7612735" cy="16764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523875" y="1551455"/>
            <a:ext cx="7612735" cy="16764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23875" y="4031068"/>
            <a:ext cx="8069935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**Register:** Email + password validation, confirmation matching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**Login:** Session management, auto-redirect to task list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**Logout:** Session cleanup, confirmation dialog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**Security:** ParseACL for user-specific data access</a:t>
            </a:r>
            <a:endParaRPr lang="en-US" sz="1217" dirty="0"/>
          </a:p>
        </p:txBody>
      </p:sp>
      <p:sp>
        <p:nvSpPr>
          <p:cNvPr id="14" name="Text 12"/>
          <p:cNvSpPr/>
          <p:nvPr/>
        </p:nvSpPr>
        <p:spPr>
          <a:xfrm>
            <a:off x="523875" y="1551455"/>
            <a:ext cx="8069935" cy="167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 Operation | Implementation | Features |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|-----------|---------------|----------|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 **Create** | Add new tasks | • Required title (max 100 chars)&lt;br&gt;• Optional description (max 500 chars)&lt;br&gt;• Character counter&lt;br&gt;• ACL security setup |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 **Read** | View task list | • User-specific query filtering&lt;br&gt;• Sorted by creation date&lt;br&gt;• Pull-to-refresh sync&lt;br&gt;• Session validation |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 **Update** | Edit tasks | • Modify title/description&lt;br&gt;• Form validation&lt;br&gt;• Error handling with SnackBar |</a:t>
            </a:r>
            <a:endParaRPr lang="en-US" sz="1217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1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| **Delete** | Remove tasks | • Confirmation dialog&lt;br&gt;• Success/error feedback&lt;br&gt;• Immediate UI update |</a:t>
            </a:r>
            <a:endParaRPr lang="en-US" sz="1217" dirty="0"/>
          </a:p>
        </p:txBody>
      </p:sp>
      <p:sp>
        <p:nvSpPr>
          <p:cNvPr id="15" name="Text 13"/>
          <p:cNvSpPr/>
          <p:nvPr/>
        </p:nvSpPr>
        <p:spPr>
          <a:xfrm>
            <a:off x="523875" y="3438537"/>
            <a:ext cx="3542226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71"/>
              </a:lnSpc>
              <a:buNone/>
            </a:pPr>
            <a:r>
              <a:rPr lang="en-US" sz="2739" b="1" spc="-164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Authentication Flow</a:t>
            </a:r>
            <a:endParaRPr lang="en-US" sz="2739" dirty="0"/>
          </a:p>
        </p:txBody>
      </p:sp>
      <p:sp>
        <p:nvSpPr>
          <p:cNvPr id="16" name="Text 14"/>
          <p:cNvSpPr/>
          <p:nvPr/>
        </p:nvSpPr>
        <p:spPr>
          <a:xfrm>
            <a:off x="523875" y="958924"/>
            <a:ext cx="6208615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71"/>
              </a:lnSpc>
              <a:buNone/>
            </a:pPr>
            <a:r>
              <a:rPr lang="en-US" sz="2739" b="1" spc="-164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Task Management System</a:t>
            </a:r>
            <a:endParaRPr lang="en-US" sz="2739" dirty="0"/>
          </a:p>
        </p:txBody>
      </p:sp>
      <p:sp>
        <p:nvSpPr>
          <p:cNvPr id="17" name="Text 15"/>
          <p:cNvSpPr/>
          <p:nvPr/>
        </p:nvSpPr>
        <p:spPr>
          <a:xfrm>
            <a:off x="523875" y="276225"/>
            <a:ext cx="7303509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71"/>
              </a:lnSpc>
              <a:buNone/>
            </a:pPr>
            <a:r>
              <a:rPr lang="en-US" sz="4057" b="1" spc="-243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CRUD Operations &amp; Features</a:t>
            </a:r>
            <a:endParaRPr lang="en-US" sz="405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875" y="323850"/>
            <a:ext cx="7418705" cy="70008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23875" y="1020763"/>
            <a:ext cx="6232271" cy="70008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23875" y="2005885"/>
            <a:ext cx="6232271" cy="700088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23875" y="1662833"/>
            <a:ext cx="8249209" cy="228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23875" y="2704119"/>
            <a:ext cx="8249209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885767" y="2719388"/>
            <a:ext cx="3886200" cy="11430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23875" y="3737011"/>
            <a:ext cx="8249209" cy="11430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23875" y="3737011"/>
            <a:ext cx="8249209" cy="11430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3875" y="3737011"/>
            <a:ext cx="8249209" cy="11430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523875" y="3737011"/>
            <a:ext cx="8249209" cy="11430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885767" y="2719388"/>
            <a:ext cx="3886200" cy="11430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885767" y="2719388"/>
            <a:ext cx="3886200" cy="11430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885767" y="2719388"/>
            <a:ext cx="3886200" cy="11430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523875" y="2704119"/>
            <a:ext cx="8249209" cy="91440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23875" y="2704119"/>
            <a:ext cx="8249209" cy="9144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23875" y="2704119"/>
            <a:ext cx="8249209" cy="9144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523875" y="1662833"/>
            <a:ext cx="8249209" cy="2286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523875" y="1662833"/>
            <a:ext cx="8249209" cy="2286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523875" y="1662833"/>
            <a:ext cx="8249209" cy="228600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523875" y="3737011"/>
            <a:ext cx="870640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Components:**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- 3D circular icons with concave depth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Inset text fields (carved surface effect)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Raised buttons with shadow layers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Neumorphic cards for tasks</a:t>
            </a:r>
            <a:endParaRPr lang="en-US" sz="1319" dirty="0"/>
          </a:p>
        </p:txBody>
      </p:sp>
      <p:sp>
        <p:nvSpPr>
          <p:cNvPr id="22" name="Text 20"/>
          <p:cNvSpPr/>
          <p:nvPr/>
        </p:nvSpPr>
        <p:spPr>
          <a:xfrm>
            <a:off x="4885767" y="2719388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Color Scheme:**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Base: `#E0E5EC` (soft gray background)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Primary: Deep Purple `#673AB7` (login, main actions)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Success: Green `#66BB6A` (register, confirmations)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Error: Red `#EF5350` (errors, delete)</a:t>
            </a:r>
            <a:endParaRPr lang="en-US" sz="1319" dirty="0"/>
          </a:p>
        </p:txBody>
      </p:sp>
      <p:sp>
        <p:nvSpPr>
          <p:cNvPr id="23" name="Text 21"/>
          <p:cNvSpPr/>
          <p:nvPr/>
        </p:nvSpPr>
        <p:spPr>
          <a:xfrm>
            <a:off x="523875" y="2704119"/>
            <a:ext cx="870640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Depth System:**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Raised elements: depth 4-8 (buttons, cards)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Inset elements: depth -6 to -3 (input fields)</a:t>
            </a:r>
            <a:endParaRPr lang="en-US" sz="1319" dirty="0"/>
          </a:p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- Completed tasks: depth -4 (pressed effect)</a:t>
            </a:r>
            <a:endParaRPr lang="en-US" sz="1319" dirty="0"/>
          </a:p>
        </p:txBody>
      </p:sp>
      <p:sp>
        <p:nvSpPr>
          <p:cNvPr id="24" name="Text 22"/>
          <p:cNvSpPr/>
          <p:nvPr/>
        </p:nvSpPr>
        <p:spPr>
          <a:xfrm>
            <a:off x="523875" y="1662833"/>
            <a:ext cx="870640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8"/>
              </a:lnSpc>
              <a:buNone/>
            </a:pPr>
            <a:r>
              <a:rPr lang="en-US" sz="1319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Neumorphic Design** = Soft UI with realistic 3D depth and shadows</a:t>
            </a:r>
            <a:endParaRPr lang="en-US" sz="1319" dirty="0"/>
          </a:p>
        </p:txBody>
      </p:sp>
      <p:sp>
        <p:nvSpPr>
          <p:cNvPr id="25" name="Text 23"/>
          <p:cNvSpPr/>
          <p:nvPr/>
        </p:nvSpPr>
        <p:spPr>
          <a:xfrm>
            <a:off x="523875" y="2005885"/>
            <a:ext cx="6689471" cy="70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95"/>
              </a:lnSpc>
              <a:buNone/>
            </a:pPr>
            <a:r>
              <a:rPr lang="en-US" sz="2967" b="1" spc="-178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 Implementation</a:t>
            </a:r>
            <a:endParaRPr lang="en-US" sz="2967" dirty="0"/>
          </a:p>
        </p:txBody>
      </p:sp>
      <p:sp>
        <p:nvSpPr>
          <p:cNvPr id="26" name="Text 24"/>
          <p:cNvSpPr/>
          <p:nvPr/>
        </p:nvSpPr>
        <p:spPr>
          <a:xfrm>
            <a:off x="523875" y="1020763"/>
            <a:ext cx="6689471" cy="70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95"/>
              </a:lnSpc>
              <a:buNone/>
            </a:pPr>
            <a:r>
              <a:rPr lang="en-US" sz="2967" b="1" spc="-178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Philosophy</a:t>
            </a:r>
            <a:endParaRPr lang="en-US" sz="2967" dirty="0"/>
          </a:p>
        </p:txBody>
      </p:sp>
      <p:sp>
        <p:nvSpPr>
          <p:cNvPr id="27" name="Text 25"/>
          <p:cNvSpPr/>
          <p:nvPr/>
        </p:nvSpPr>
        <p:spPr>
          <a:xfrm>
            <a:off x="523875" y="323850"/>
            <a:ext cx="7875905" cy="700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95"/>
              </a:lnSpc>
              <a:buNone/>
            </a:pPr>
            <a:r>
              <a:rPr lang="en-US" sz="4396" b="1" spc="-264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Neumorphic UI Design</a:t>
            </a:r>
            <a:endParaRPr lang="en-US" sz="43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525" y="257175"/>
            <a:ext cx="7303543" cy="69056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66725" y="985469"/>
            <a:ext cx="3277319" cy="6905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66725" y="2813072"/>
            <a:ext cx="3277319" cy="6905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609751" y="2813072"/>
            <a:ext cx="3719512" cy="690563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609751" y="985469"/>
            <a:ext cx="3277319" cy="69056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66725" y="1672538"/>
            <a:ext cx="3146776" cy="111918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4623495" y="1672538"/>
            <a:ext cx="3146776" cy="8953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66725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609751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4609751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609751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609751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66725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66725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66725" y="3500138"/>
            <a:ext cx="4005612" cy="1119188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623495" y="1672538"/>
            <a:ext cx="3146776" cy="89535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623495" y="1672538"/>
            <a:ext cx="3146776" cy="89535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623495" y="1672538"/>
            <a:ext cx="3146776" cy="89535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66725" y="1672538"/>
            <a:ext cx="3146776" cy="1119188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66725" y="1672538"/>
            <a:ext cx="3146776" cy="1119188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66725" y="1672538"/>
            <a:ext cx="3146776" cy="1119188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4609751" y="3500138"/>
            <a:ext cx="4462812" cy="111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Info card with instructions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Inset title field (max 100 chars)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Inset description field (max 500 chars, 6 lines)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Real-time character counters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Raised save/update button</a:t>
            </a:r>
            <a:endParaRPr lang="en-US" sz="1298" dirty="0"/>
          </a:p>
        </p:txBody>
      </p:sp>
      <p:sp>
        <p:nvSpPr>
          <p:cNvPr id="24" name="Text 22"/>
          <p:cNvSpPr/>
          <p:nvPr/>
        </p:nvSpPr>
        <p:spPr>
          <a:xfrm>
            <a:off x="466725" y="3500138"/>
            <a:ext cx="4462812" cy="111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App bar with icon, "Tasks" title, refresh &amp; logout buttons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Neumorphic task cards (depth 8 for active, -4 for completed)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Edit (blue) and Delete (red) buttons per task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Empty state with 3D icon and message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Purple floating action button (+)</a:t>
            </a:r>
            <a:endParaRPr lang="en-US" sz="1298" dirty="0"/>
          </a:p>
        </p:txBody>
      </p:sp>
      <p:sp>
        <p:nvSpPr>
          <p:cNvPr id="25" name="Text 23"/>
          <p:cNvSpPr/>
          <p:nvPr/>
        </p:nvSpPr>
        <p:spPr>
          <a:xfrm>
            <a:off x="4623495" y="1672538"/>
            <a:ext cx="3603976" cy="895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Three validation fields (email, password, confirm)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Green raised button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Success dialog with animation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Automatic redirect after registration</a:t>
            </a:r>
            <a:endParaRPr lang="en-US" sz="1298" dirty="0"/>
          </a:p>
        </p:txBody>
      </p:sp>
      <p:sp>
        <p:nvSpPr>
          <p:cNvPr id="26" name="Text 24"/>
          <p:cNvSpPr/>
          <p:nvPr/>
        </p:nvSpPr>
        <p:spPr>
          <a:xfrm>
            <a:off x="466725" y="1672538"/>
            <a:ext cx="3603976" cy="111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- 3D circular icon with concave depth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Inset email/password fields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Raised purple login button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Password visibility toggle</a:t>
            </a:r>
            <a:endParaRPr lang="en-US" sz="1298" dirty="0"/>
          </a:p>
          <a:p>
            <a:pPr algn="l" indent="0" marL="0">
              <a:lnSpc>
                <a:spcPts val="1761"/>
              </a:lnSpc>
              <a:buNone/>
            </a:pPr>
            <a:r>
              <a:rPr lang="en-US" sz="129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Navigation to register</a:t>
            </a:r>
            <a:endParaRPr lang="en-US" sz="1298" dirty="0"/>
          </a:p>
        </p:txBody>
      </p:sp>
      <p:sp>
        <p:nvSpPr>
          <p:cNvPr id="27" name="Text 25"/>
          <p:cNvSpPr/>
          <p:nvPr/>
        </p:nvSpPr>
        <p:spPr>
          <a:xfrm>
            <a:off x="4609751" y="985469"/>
            <a:ext cx="3734519" cy="69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10"/>
              </a:lnSpc>
              <a:buNone/>
            </a:pPr>
            <a:r>
              <a:rPr lang="en-US" sz="2921" b="1" spc="-175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Register Screen</a:t>
            </a:r>
            <a:endParaRPr lang="en-US" sz="2921" dirty="0"/>
          </a:p>
        </p:txBody>
      </p:sp>
      <p:sp>
        <p:nvSpPr>
          <p:cNvPr id="28" name="Text 26"/>
          <p:cNvSpPr/>
          <p:nvPr/>
        </p:nvSpPr>
        <p:spPr>
          <a:xfrm>
            <a:off x="4609751" y="2813072"/>
            <a:ext cx="4176712" cy="69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10"/>
              </a:lnSpc>
              <a:buNone/>
            </a:pPr>
            <a:r>
              <a:rPr lang="en-US" sz="2921" b="1" spc="-175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Add/Edit Task Screen</a:t>
            </a:r>
            <a:endParaRPr lang="en-US" sz="2921" dirty="0"/>
          </a:p>
        </p:txBody>
      </p:sp>
      <p:sp>
        <p:nvSpPr>
          <p:cNvPr id="29" name="Text 27"/>
          <p:cNvSpPr/>
          <p:nvPr/>
        </p:nvSpPr>
        <p:spPr>
          <a:xfrm>
            <a:off x="466725" y="2813072"/>
            <a:ext cx="3734519" cy="69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10"/>
              </a:lnSpc>
              <a:buNone/>
            </a:pPr>
            <a:r>
              <a:rPr lang="en-US" sz="2921" b="1" spc="-175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Task List Screen</a:t>
            </a:r>
            <a:endParaRPr lang="en-US" sz="2921" dirty="0"/>
          </a:p>
        </p:txBody>
      </p:sp>
      <p:sp>
        <p:nvSpPr>
          <p:cNvPr id="30" name="Text 28"/>
          <p:cNvSpPr/>
          <p:nvPr/>
        </p:nvSpPr>
        <p:spPr>
          <a:xfrm>
            <a:off x="466725" y="985469"/>
            <a:ext cx="3734519" cy="69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10"/>
              </a:lnSpc>
              <a:buNone/>
            </a:pPr>
            <a:r>
              <a:rPr lang="en-US" sz="2921" b="1" spc="-175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Login Screen</a:t>
            </a:r>
            <a:endParaRPr lang="en-US" sz="2921" dirty="0"/>
          </a:p>
        </p:txBody>
      </p:sp>
      <p:sp>
        <p:nvSpPr>
          <p:cNvPr id="31" name="Text 29"/>
          <p:cNvSpPr/>
          <p:nvPr/>
        </p:nvSpPr>
        <p:spPr>
          <a:xfrm>
            <a:off x="390525" y="257175"/>
            <a:ext cx="7760743" cy="690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10"/>
              </a:lnSpc>
              <a:buNone/>
            </a:pPr>
            <a:r>
              <a:rPr lang="en-US" sz="4328" b="1" spc="-260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Application Screens</a:t>
            </a:r>
            <a:endParaRPr lang="en-US" sz="432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675" y="423863"/>
            <a:ext cx="7238315" cy="6810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85775" y="1063937"/>
            <a:ext cx="3471863" cy="6810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85775" y="1744871"/>
            <a:ext cx="3118672" cy="33575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15730" y="1744871"/>
            <a:ext cx="3118672" cy="201453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415730" y="1744871"/>
            <a:ext cx="3118672" cy="201453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5415730" y="1744871"/>
            <a:ext cx="3118672" cy="201453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415730" y="1744871"/>
            <a:ext cx="3118672" cy="2014538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85775" y="1744871"/>
            <a:ext cx="3118672" cy="33575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85775" y="1744871"/>
            <a:ext cx="3118672" cy="33575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485775" y="1744871"/>
            <a:ext cx="3118672" cy="335756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415730" y="1063937"/>
            <a:ext cx="2329765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362"/>
              </a:lnSpc>
              <a:buNone/>
            </a:pPr>
            <a:r>
              <a:rPr lang="en-US" sz="2895" b="1" spc="-174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Model</a:t>
            </a:r>
            <a:endParaRPr lang="en-US" sz="2895" dirty="0"/>
          </a:p>
        </p:txBody>
      </p:sp>
      <p:sp>
        <p:nvSpPr>
          <p:cNvPr id="13" name="Text 11"/>
          <p:cNvSpPr/>
          <p:nvPr/>
        </p:nvSpPr>
        <p:spPr>
          <a:xfrm>
            <a:off x="5415730" y="1744871"/>
            <a:ext cx="3575872" cy="2014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```dart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Task {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title: String (required, max 100)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description: String (optional, max 500)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isCompleted: Boolean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createdBy: Pointer&lt;User&gt;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ACL: User-specific permissions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}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```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485775" y="1744871"/>
            <a:ext cx="3575872" cy="3357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```dart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// Parse initialization with Task registration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await Parse().initialize(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keyApplicationId, keyParseServerUrl,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clientKey: keyClientKey,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registeredSubClassMap: {'Task': () =&gt; Task()},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);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// ACL Security for user-specific data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final acl = ParseACL(owner: currentUser);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acl.setPublicReadAccess(allowed: false);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task.setACL(acl);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// Query user's tasks only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final query = QueryBuilder&lt;Task&gt;(Task())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..whereEqualTo('createdBy', currentUser)</a:t>
            </a:r>
            <a:endParaRPr lang="en-US" sz="1287" dirty="0"/>
          </a:p>
          <a:p>
            <a:pPr algn="l" indent="0" marL="0">
              <a:lnSpc>
                <a:spcPts val="1745"/>
              </a:lnSpc>
              <a:buNone/>
            </a:pPr>
            <a:r>
              <a:rPr lang="en-US" sz="1287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  ..orderByDescending('createdAt');</a:t>
            </a:r>
            <a:endParaRPr lang="en-US" sz="1287" dirty="0"/>
          </a:p>
        </p:txBody>
      </p:sp>
      <p:sp>
        <p:nvSpPr>
          <p:cNvPr id="15" name="Text 13"/>
          <p:cNvSpPr/>
          <p:nvPr/>
        </p:nvSpPr>
        <p:spPr>
          <a:xfrm>
            <a:off x="485775" y="1063937"/>
            <a:ext cx="3929063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362"/>
              </a:lnSpc>
              <a:buNone/>
            </a:pPr>
            <a:r>
              <a:rPr lang="en-US" sz="2895" b="1" spc="-174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Back4App Integration</a:t>
            </a:r>
            <a:endParaRPr lang="en-US" sz="2895" dirty="0"/>
          </a:p>
        </p:txBody>
      </p:sp>
      <p:sp>
        <p:nvSpPr>
          <p:cNvPr id="16" name="Text 14"/>
          <p:cNvSpPr/>
          <p:nvPr/>
        </p:nvSpPr>
        <p:spPr>
          <a:xfrm>
            <a:off x="447675" y="423863"/>
            <a:ext cx="7695515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362"/>
              </a:lnSpc>
              <a:buNone/>
            </a:pPr>
            <a:r>
              <a:rPr lang="en-US" sz="4289" b="1" spc="-25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Implementation</a:t>
            </a:r>
            <a:endParaRPr lang="en-US" sz="428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6225"/>
            <a:ext cx="7359738" cy="6953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57200" y="881063"/>
            <a:ext cx="3641789" cy="69532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95300" y="3035359"/>
            <a:ext cx="3641789" cy="6953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49081" y="956381"/>
            <a:ext cx="3641789" cy="69532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57200" y="1516121"/>
            <a:ext cx="4833938" cy="134302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95300" y="3658482"/>
            <a:ext cx="3170988" cy="1119188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4445166" y="3009154"/>
            <a:ext cx="3170988" cy="969298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449081" y="1558730"/>
            <a:ext cx="3254070" cy="134302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445166" y="3009154"/>
            <a:ext cx="3170988" cy="96929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495300" y="3658482"/>
            <a:ext cx="3170988" cy="111918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95300" y="3658482"/>
            <a:ext cx="3170988" cy="1119188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95300" y="3658482"/>
            <a:ext cx="3170988" cy="1119188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57200" y="1516121"/>
            <a:ext cx="4833938" cy="134302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57200" y="1516121"/>
            <a:ext cx="4376738" cy="134302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57200" y="1516121"/>
            <a:ext cx="4376738" cy="1343025"/>
          </a:xfrm>
          <a:prstGeom prst="rect">
            <a:avLst/>
          </a:prstGeom>
          <a:noFill/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166" y="3009154"/>
            <a:ext cx="3170988" cy="969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49081" y="1558730"/>
            <a:ext cx="3711270" cy="134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Package compatibility (flutter_neumorphic_plus migration)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ParseObject subclass registration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Layout overflow fixes (Flexible, Wrap, TextOverflow)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Session validation &amp; error feedback</a:t>
            </a:r>
            <a:endParaRPr lang="en-US" sz="1308" dirty="0"/>
          </a:p>
        </p:txBody>
      </p:sp>
      <p:sp>
        <p:nvSpPr>
          <p:cNvPr id="19" name="Text 16"/>
          <p:cNvSpPr/>
          <p:nvPr/>
        </p:nvSpPr>
        <p:spPr>
          <a:xfrm>
            <a:off x="495300" y="3658482"/>
            <a:ext cx="3628188" cy="111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Fully functional CRUD with error handling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✅ Secure user authentication &amp; data isolation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✅ Beautiful neumorphic UI with consistent design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✅ Responsive layouts without overflow errors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✅ Production-ready with proper validation</a:t>
            </a:r>
            <a:endParaRPr lang="en-US" sz="1308" dirty="0"/>
          </a:p>
        </p:txBody>
      </p:sp>
      <p:sp>
        <p:nvSpPr>
          <p:cNvPr id="20" name="Text 17"/>
          <p:cNvSpPr/>
          <p:nvPr/>
        </p:nvSpPr>
        <p:spPr>
          <a:xfrm>
            <a:off x="457200" y="1516121"/>
            <a:ext cx="5176838" cy="1343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**BaaS Integration:** Parse Server SDK, cloud database, authentication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**Flutter Development:** StatefulWidget, form validation, async/await, navigation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**UI/UX Design:** Neumorphic principles, depth manipulation, color theory</a:t>
            </a:r>
            <a:endParaRPr lang="en-US" sz="1308" dirty="0"/>
          </a:p>
          <a:p>
            <a:pPr algn="l" indent="0" marL="0">
              <a:lnSpc>
                <a:spcPts val="1774"/>
              </a:lnSpc>
              <a:buNone/>
            </a:pPr>
            <a:r>
              <a:rPr lang="en-US" sz="1308" b="1" dirty="0">
                <a:solidFill>
                  <a:srgbClr val="FAFAFA">
                    <a:alpha val="99000"/>
                  </a:srgbClr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- **Security:** ACL implementation, session management, input validation</a:t>
            </a:r>
            <a:endParaRPr lang="en-US" sz="1308" dirty="0"/>
          </a:p>
        </p:txBody>
      </p:sp>
      <p:sp>
        <p:nvSpPr>
          <p:cNvPr id="21" name="Text 18"/>
          <p:cNvSpPr/>
          <p:nvPr/>
        </p:nvSpPr>
        <p:spPr>
          <a:xfrm>
            <a:off x="5449081" y="956381"/>
            <a:ext cx="4098989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52"/>
              </a:lnSpc>
              <a:buNone/>
            </a:pPr>
            <a:r>
              <a:rPr lang="en-US" sz="2944" b="1" spc="-17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Challenges Solved</a:t>
            </a:r>
            <a:endParaRPr lang="en-US" sz="2944" dirty="0"/>
          </a:p>
        </p:txBody>
      </p:sp>
      <p:sp>
        <p:nvSpPr>
          <p:cNvPr id="22" name="Text 19"/>
          <p:cNvSpPr/>
          <p:nvPr/>
        </p:nvSpPr>
        <p:spPr>
          <a:xfrm>
            <a:off x="495300" y="3035359"/>
            <a:ext cx="4098989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52"/>
              </a:lnSpc>
              <a:buNone/>
            </a:pPr>
            <a:r>
              <a:rPr lang="en-US" sz="2944" b="1" spc="-17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Highlights</a:t>
            </a:r>
            <a:endParaRPr lang="en-US" sz="2944" dirty="0"/>
          </a:p>
        </p:txBody>
      </p:sp>
      <p:sp>
        <p:nvSpPr>
          <p:cNvPr id="23" name="Text 20"/>
          <p:cNvSpPr/>
          <p:nvPr/>
        </p:nvSpPr>
        <p:spPr>
          <a:xfrm>
            <a:off x="457200" y="881063"/>
            <a:ext cx="4098989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52"/>
              </a:lnSpc>
              <a:buNone/>
            </a:pPr>
            <a:r>
              <a:rPr lang="en-US" sz="2944" b="1" spc="-177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Skills Gained</a:t>
            </a:r>
            <a:endParaRPr lang="en-US" sz="2944" dirty="0"/>
          </a:p>
        </p:txBody>
      </p:sp>
      <p:sp>
        <p:nvSpPr>
          <p:cNvPr id="24" name="Text 21"/>
          <p:cNvSpPr/>
          <p:nvPr/>
        </p:nvSpPr>
        <p:spPr>
          <a:xfrm>
            <a:off x="457200" y="276225"/>
            <a:ext cx="7816938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52"/>
              </a:lnSpc>
              <a:buNone/>
            </a:pPr>
            <a:r>
              <a:rPr lang="en-US" sz="4361" b="1" spc="-262" kern="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Learnings &amp; Results</a:t>
            </a:r>
            <a:endParaRPr lang="en-US" sz="436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2025-11-13T11:56:27Z</dcterms:created>
  <dcterms:modified xsi:type="dcterms:W3CDTF">2025-11-13T11:56:27Z</dcterms:modified>
</cp:coreProperties>
</file>